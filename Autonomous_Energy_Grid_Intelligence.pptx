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 Load (W)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6 PM</c:v>
                  </c:pt>
                  <c:pt idx="1">
                    <c:v>7 PM</c:v>
                  </c:pt>
                  <c:pt idx="2">
                    <c:v>8 PM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20</c:v>
                </c:pt>
                <c:pt idx="2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B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7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B77"/>
                    </a:solidFill>
                    <a:latin typeface="Arial"/>
                  </a:rPr>
                  <a:t>Watts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4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029200" cy="5029200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731520"/>
            <a:ext cx="3566160" cy="3566160"/>
          </a:xfrm>
          <a:prstGeom prst="ellipse">
            <a:avLst/>
          </a:prstGeom>
          <a:solidFill>
            <a:srgbClr val="1B7A6E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502920"/>
            <a:ext cx="1371600" cy="137160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5" name="Image 0" descr="/home/claude/deck/icons/bolt_0E24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7936" y="859536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148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MICROGRID ORCHESTRATOR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94360" y="26060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Energy Grid Intelligence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640080" y="37947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Predictive, self-managing control across Solar, Battery, and Grid power sources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4892040"/>
            <a:ext cx="2286000" cy="777240"/>
          </a:xfrm>
          <a:prstGeom prst="roundRect">
            <a:avLst>
              <a:gd name="adj" fmla="val 14118"/>
            </a:avLst>
          </a:prstGeom>
          <a:solidFill>
            <a:srgbClr val="16324F"/>
          </a:solidFill>
          <a:ln w="12700">
            <a:solidFill>
              <a:srgbClr val="27506E"/>
            </a:solidFill>
            <a:prstDash val="solid"/>
          </a:ln>
        </p:spPr>
      </p:sp>
      <p:pic>
        <p:nvPicPr>
          <p:cNvPr id="10" name="Image 1" descr="/home/claude/deck/icons/solar_F5A62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505663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53312" y="489204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154680" y="4892040"/>
            <a:ext cx="2286000" cy="777240"/>
          </a:xfrm>
          <a:prstGeom prst="roundRect">
            <a:avLst>
              <a:gd name="adj" fmla="val 14118"/>
            </a:avLst>
          </a:prstGeom>
          <a:solidFill>
            <a:srgbClr val="16324F"/>
          </a:solidFill>
          <a:ln w="12700">
            <a:solidFill>
              <a:srgbClr val="27506E"/>
            </a:solidFill>
            <a:prstDash val="solid"/>
          </a:ln>
        </p:spPr>
      </p:sp>
      <p:pic>
        <p:nvPicPr>
          <p:cNvPr id="13" name="Image 2" descr="/home/claude/deck/icons/battery_F5A62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272" y="5056632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67912" y="489204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669280" y="4892040"/>
            <a:ext cx="2286000" cy="777240"/>
          </a:xfrm>
          <a:prstGeom prst="roundRect">
            <a:avLst>
              <a:gd name="adj" fmla="val 14118"/>
            </a:avLst>
          </a:prstGeom>
          <a:solidFill>
            <a:srgbClr val="16324F"/>
          </a:solidFill>
          <a:ln w="12700">
            <a:solidFill>
              <a:srgbClr val="27506E"/>
            </a:solidFill>
            <a:prstDash val="solid"/>
          </a:ln>
        </p:spPr>
      </p:sp>
      <p:pic>
        <p:nvPicPr>
          <p:cNvPr id="16" name="Image 3" descr="/home/claude/deck/icons/plug_F5A62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872" y="5056632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82512" y="489204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GRID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640080" y="6172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Final Year Project  •  IoT &amp; AI-based Energy Management System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demand is not constant — and traditional systems can't react fast enough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0175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D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10512"/>
            <a:ext cx="685800" cy="6858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/home/claude/deck/icons/warning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98882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50876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shortages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794760" y="1508760"/>
            <a:ext cx="30175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D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050792" y="1810512"/>
            <a:ext cx="685800" cy="6858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0" name="Image 1" descr="/home/claude/deck/icons/bol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100" y="1988820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2040" y="150876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overload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3017520"/>
            <a:ext cx="30175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D">
                <a:alpha val="2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04672" y="3319272"/>
            <a:ext cx="685800" cy="6858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4" name="Image 2" descr="/home/claude/deck/icons/solar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3497580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45920" y="301752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Wastage of renewable energy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3794760" y="3017520"/>
            <a:ext cx="30175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D">
                <a:alpha val="2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050792" y="3319272"/>
            <a:ext cx="685800" cy="6858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8" name="Image 3" descr="/home/claude/deck/icons/battery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100" y="3497580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892040" y="301752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battery usage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548640" y="4526280"/>
            <a:ext cx="30175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D">
                <a:alpha val="2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04672" y="4828032"/>
            <a:ext cx="685800" cy="6858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22" name="Image 4" descr="/home/claude/deck/icons/sliders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5006340"/>
            <a:ext cx="329184" cy="32918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45920" y="452628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real-time monitoring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3794760" y="4526280"/>
            <a:ext cx="30175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D">
                <a:alpha val="25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050792" y="4828032"/>
            <a:ext cx="685800" cy="6858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26" name="Image 5" descr="/home/claude/deck/icons/chart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9100" y="5006340"/>
            <a:ext cx="329184" cy="32918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892040" y="452628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predicting demand</a:t>
            </a:r>
            <a:endParaRPr lang="en-US" sz="1350" dirty="0"/>
          </a:p>
        </p:txBody>
      </p:sp>
      <p:sp>
        <p:nvSpPr>
          <p:cNvPr id="28" name="Shape 20"/>
          <p:cNvSpPr/>
          <p:nvPr/>
        </p:nvSpPr>
        <p:spPr>
          <a:xfrm>
            <a:off x="7589520" y="1508760"/>
            <a:ext cx="4023360" cy="4663440"/>
          </a:xfrm>
          <a:prstGeom prst="roundRect">
            <a:avLst>
              <a:gd name="adj" fmla="val 2273"/>
            </a:avLst>
          </a:prstGeom>
          <a:solidFill>
            <a:srgbClr val="0E2439"/>
          </a:solidFill>
          <a:ln/>
        </p:spPr>
      </p:sp>
      <p:sp>
        <p:nvSpPr>
          <p:cNvPr id="29" name="Shape 21"/>
          <p:cNvSpPr/>
          <p:nvPr/>
        </p:nvSpPr>
        <p:spPr>
          <a:xfrm>
            <a:off x="7909560" y="1783080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30" name="Image 6" descr="/home/claude/deck/icons/warning_0E2439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5981" y="1949501"/>
            <a:ext cx="307238" cy="30723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8686800" y="17830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SHORTFALL</a:t>
            </a:r>
            <a:endParaRPr lang="en-US" sz="1150" dirty="0"/>
          </a:p>
        </p:txBody>
      </p:sp>
      <p:sp>
        <p:nvSpPr>
          <p:cNvPr id="32" name="Text 23"/>
          <p:cNvSpPr/>
          <p:nvPr/>
        </p:nvSpPr>
        <p:spPr>
          <a:xfrm>
            <a:off x="7909560" y="27889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Demand</a:t>
            </a:r>
            <a:endParaRPr lang="en-US" sz="1350" dirty="0"/>
          </a:p>
        </p:txBody>
      </p:sp>
      <p:sp>
        <p:nvSpPr>
          <p:cNvPr id="33" name="Text 24"/>
          <p:cNvSpPr/>
          <p:nvPr/>
        </p:nvSpPr>
        <p:spPr>
          <a:xfrm>
            <a:off x="10149840" y="27889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W</a:t>
            </a:r>
            <a:endParaRPr lang="en-US" sz="1350" dirty="0"/>
          </a:p>
        </p:txBody>
      </p:sp>
      <p:sp>
        <p:nvSpPr>
          <p:cNvPr id="34" name="Text 25"/>
          <p:cNvSpPr/>
          <p:nvPr/>
        </p:nvSpPr>
        <p:spPr>
          <a:xfrm>
            <a:off x="7909560" y="331927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Grid Available</a:t>
            </a:r>
            <a:endParaRPr lang="en-US" sz="1350" dirty="0"/>
          </a:p>
        </p:txBody>
      </p:sp>
      <p:sp>
        <p:nvSpPr>
          <p:cNvPr id="35" name="Text 26"/>
          <p:cNvSpPr/>
          <p:nvPr/>
        </p:nvSpPr>
        <p:spPr>
          <a:xfrm>
            <a:off x="10149840" y="331927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W</a:t>
            </a:r>
            <a:endParaRPr lang="en-US" sz="1350" dirty="0"/>
          </a:p>
        </p:txBody>
      </p:sp>
      <p:sp>
        <p:nvSpPr>
          <p:cNvPr id="36" name="Text 27"/>
          <p:cNvSpPr/>
          <p:nvPr/>
        </p:nvSpPr>
        <p:spPr>
          <a:xfrm>
            <a:off x="7909560" y="384962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Shortage</a:t>
            </a:r>
            <a:endParaRPr lang="en-US" sz="1350" dirty="0"/>
          </a:p>
        </p:txBody>
      </p:sp>
      <p:sp>
        <p:nvSpPr>
          <p:cNvPr id="37" name="Text 28"/>
          <p:cNvSpPr/>
          <p:nvPr/>
        </p:nvSpPr>
        <p:spPr>
          <a:xfrm>
            <a:off x="10149840" y="384962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W</a:t>
            </a:r>
            <a:endParaRPr lang="en-US" sz="1350" dirty="0"/>
          </a:p>
        </p:txBody>
      </p:sp>
      <p:sp>
        <p:nvSpPr>
          <p:cNvPr id="38" name="Shape 29"/>
          <p:cNvSpPr/>
          <p:nvPr/>
        </p:nvSpPr>
        <p:spPr>
          <a:xfrm>
            <a:off x="7909560" y="4453128"/>
            <a:ext cx="3520440" cy="0"/>
          </a:xfrm>
          <a:prstGeom prst="line">
            <a:avLst/>
          </a:prstGeom>
          <a:noFill/>
          <a:ln w="12700">
            <a:solidFill>
              <a:srgbClr val="2E4A63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7909560" y="4700016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intelligent management, this 20 W shortage directly impacts the connected load.</a:t>
            </a:r>
            <a:endParaRPr lang="en-US" sz="1200" dirty="0"/>
          </a:p>
        </p:txBody>
      </p:sp>
      <p:sp>
        <p:nvSpPr>
          <p:cNvPr id="40" name="Shape 31"/>
          <p:cNvSpPr/>
          <p:nvPr/>
        </p:nvSpPr>
        <p:spPr>
          <a:xfrm>
            <a:off x="7909560" y="5568696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16324F"/>
          </a:solidFill>
          <a:ln/>
        </p:spPr>
      </p:sp>
      <p:sp>
        <p:nvSpPr>
          <p:cNvPr id="41" name="Text 32"/>
          <p:cNvSpPr/>
          <p:nvPr/>
        </p:nvSpPr>
        <p:spPr>
          <a:xfrm>
            <a:off x="8046720" y="5568696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Grid → 180W   +   Battery → 20W   =   200W</a:t>
            </a:r>
            <a:endParaRPr lang="en-US" sz="1200" dirty="0"/>
          </a:p>
        </p:txBody>
      </p:sp>
      <p:sp>
        <p:nvSpPr>
          <p:cNvPr id="42" name="Text 3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Energy Grid Intelligence  |  Smart Microgrid Orchestrator</a:t>
            </a:r>
            <a:endParaRPr lang="en-US" sz="900" dirty="0"/>
          </a:p>
        </p:txBody>
      </p:sp>
      <p:sp>
        <p:nvSpPr>
          <p:cNvPr id="43" name="Text 3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Solution: The Smart Microgrid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controller continuously evaluates load demand, solar output, battery level, and grid status to choose the best source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777740" y="2446020"/>
            <a:ext cx="1600200" cy="1600200"/>
          </a:xfrm>
          <a:prstGeom prst="roundRect">
            <a:avLst>
              <a:gd name="adj" fmla="val 9143"/>
            </a:avLst>
          </a:prstGeom>
          <a:solidFill>
            <a:srgbClr val="16324F"/>
          </a:solidFill>
          <a:ln/>
          <a:effectLst>
            <a:outerShdw sx="100000" sy="100000" kx="0" ky="0" algn="bl" rotWithShape="0" blurRad="101600" dist="38100" dir="5400000">
              <a:srgbClr val="9AA5AD">
                <a:alpha val="30000"/>
              </a:srgbClr>
            </a:outerShdw>
          </a:effectLst>
        </p:spPr>
      </p:sp>
      <p:pic>
        <p:nvPicPr>
          <p:cNvPr id="5" name="Image 0" descr="/home/claude/deck/icons/chip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278892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77740" y="350215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463040" y="1234440"/>
            <a:ext cx="1234440" cy="1234440"/>
          </a:xfrm>
          <a:prstGeom prst="ellipse">
            <a:avLst/>
          </a:prstGeom>
          <a:solidFill>
            <a:srgbClr val="F7F9FA"/>
          </a:solidFill>
          <a:ln w="31750">
            <a:solidFill>
              <a:srgbClr val="F5A623"/>
            </a:solidFill>
            <a:prstDash val="solid"/>
          </a:ln>
        </p:spPr>
      </p:sp>
      <p:pic>
        <p:nvPicPr>
          <p:cNvPr id="8" name="Image 1" descr="/home/claude/deck/icons/solar_F5A62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1481328"/>
            <a:ext cx="667512" cy="6675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5146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Panel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1463040" y="4160520"/>
            <a:ext cx="1234440" cy="1234440"/>
          </a:xfrm>
          <a:prstGeom prst="ellipse">
            <a:avLst/>
          </a:prstGeom>
          <a:solidFill>
            <a:srgbClr val="F7F9FA"/>
          </a:solidFill>
          <a:ln w="31750">
            <a:solidFill>
              <a:srgbClr val="1B7A6E"/>
            </a:solidFill>
            <a:prstDash val="solid"/>
          </a:ln>
        </p:spPr>
      </p:sp>
      <p:pic>
        <p:nvPicPr>
          <p:cNvPr id="11" name="Image 2" descr="/home/claude/deck/icons/battery_1B7A6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504" y="4407408"/>
            <a:ext cx="667512" cy="6675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54406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Storage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9555480" y="2651760"/>
            <a:ext cx="1234440" cy="1234440"/>
          </a:xfrm>
          <a:prstGeom prst="ellipse">
            <a:avLst/>
          </a:prstGeom>
          <a:solidFill>
            <a:srgbClr val="F7F9FA"/>
          </a:solidFill>
          <a:ln w="31750">
            <a:solidFill>
              <a:srgbClr val="16324F"/>
            </a:solidFill>
            <a:prstDash val="solid"/>
          </a:ln>
        </p:spPr>
      </p:sp>
      <p:pic>
        <p:nvPicPr>
          <p:cNvPr id="14" name="Image 3" descr="/home/claude/deck/icons/plug_16324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8944" y="2898648"/>
            <a:ext cx="667512" cy="66751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189720" y="39319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Grid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2697480" y="1851660"/>
            <a:ext cx="2080260" cy="982980"/>
          </a:xfrm>
          <a:prstGeom prst="line">
            <a:avLst/>
          </a:prstGeom>
          <a:noFill/>
          <a:ln w="31750">
            <a:solidFill>
              <a:srgbClr val="B7C3CC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2697480" y="4777740"/>
            <a:ext cx="2080260" cy="-1120140"/>
          </a:xfrm>
          <a:prstGeom prst="line">
            <a:avLst/>
          </a:prstGeom>
          <a:noFill/>
          <a:ln w="31750">
            <a:solidFill>
              <a:srgbClr val="B7C3CC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9555480" y="3268980"/>
            <a:ext cx="-3177540" cy="-22860"/>
          </a:xfrm>
          <a:prstGeom prst="line">
            <a:avLst/>
          </a:prstGeom>
          <a:noFill/>
          <a:ln w="31750">
            <a:solidFill>
              <a:srgbClr val="B7C3CC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4892040" y="534924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5A623"/>
          </a:solidFill>
          <a:ln/>
        </p:spPr>
      </p:sp>
      <p:sp>
        <p:nvSpPr>
          <p:cNvPr id="20" name="Text 14"/>
          <p:cNvSpPr/>
          <p:nvPr/>
        </p:nvSpPr>
        <p:spPr>
          <a:xfrm>
            <a:off x="4892040" y="53492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5577840" y="4046220"/>
            <a:ext cx="0" cy="1303020"/>
          </a:xfrm>
          <a:prstGeom prst="line">
            <a:avLst/>
          </a:prstGeom>
          <a:noFill/>
          <a:ln w="31750">
            <a:solidFill>
              <a:srgbClr val="B7C3CC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Energy Grid Intelligence  |  Smart Microgrid Orchestrator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Decision-Making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logic continuously selects the optimal power source in real time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38404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D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6" name="Image 0" descr="/home/claude/deck/icons/sola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19613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78308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DAYTIME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2779776"/>
            <a:ext cx="73152" cy="7315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9" name="Text 6"/>
          <p:cNvSpPr/>
          <p:nvPr/>
        </p:nvSpPr>
        <p:spPr>
          <a:xfrm>
            <a:off x="1024128" y="2697480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Demand: 5 W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22960" y="3163824"/>
            <a:ext cx="73152" cy="7315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1" name="Text 8"/>
          <p:cNvSpPr/>
          <p:nvPr/>
        </p:nvSpPr>
        <p:spPr>
          <a:xfrm>
            <a:off x="1024128" y="3081528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Generation: 8 W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22960" y="3547872"/>
            <a:ext cx="73152" cy="7315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3" name="Text 10"/>
          <p:cNvSpPr/>
          <p:nvPr/>
        </p:nvSpPr>
        <p:spPr>
          <a:xfrm>
            <a:off x="1024128" y="3465576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Battery: 70%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2960" y="3895344"/>
            <a:ext cx="3063240" cy="0"/>
          </a:xfrm>
          <a:prstGeom prst="line">
            <a:avLst/>
          </a:prstGeom>
          <a:noFill/>
          <a:ln w="12700">
            <a:solidFill>
              <a:srgbClr val="E4E9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03250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22960" y="4306824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5W → Load  •  3W → Battery Charging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389120" y="1508760"/>
            <a:ext cx="3611880" cy="38404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D">
                <a:alpha val="2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63440" y="1783080"/>
            <a:ext cx="685800" cy="6858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9" name="Image 1" descr="/home/claude/deck/icons/plug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1748" y="1961388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486400" y="178308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4663440" y="2779776"/>
            <a:ext cx="73152" cy="73152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22" name="Text 18"/>
          <p:cNvSpPr/>
          <p:nvPr/>
        </p:nvSpPr>
        <p:spPr>
          <a:xfrm>
            <a:off x="4864608" y="2697480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Demand: 10 W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4663440" y="3163824"/>
            <a:ext cx="73152" cy="73152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24" name="Text 20"/>
          <p:cNvSpPr/>
          <p:nvPr/>
        </p:nvSpPr>
        <p:spPr>
          <a:xfrm>
            <a:off x="4864608" y="3081528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Generation: 0 W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4663440" y="3547872"/>
            <a:ext cx="73152" cy="73152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26" name="Text 22"/>
          <p:cNvSpPr/>
          <p:nvPr/>
        </p:nvSpPr>
        <p:spPr>
          <a:xfrm>
            <a:off x="4864608" y="3465576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Available: 7 W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4663440" y="3895344"/>
            <a:ext cx="3063240" cy="0"/>
          </a:xfrm>
          <a:prstGeom prst="line">
            <a:avLst/>
          </a:prstGeom>
          <a:noFill/>
          <a:ln w="12700">
            <a:solidFill>
              <a:srgbClr val="E4E9EC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663440" y="403250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4663440" y="4306824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→ 7W  •  Battery → 3W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8229600" y="1508760"/>
            <a:ext cx="3611880" cy="38404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D">
                <a:alpha val="22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8503920" y="1783080"/>
            <a:ext cx="685800" cy="685800"/>
          </a:xfrm>
          <a:prstGeom prst="ellipse">
            <a:avLst/>
          </a:prstGeom>
          <a:solidFill>
            <a:srgbClr val="1B7A6E"/>
          </a:solidFill>
          <a:ln/>
        </p:spPr>
      </p:sp>
      <p:pic>
        <p:nvPicPr>
          <p:cNvPr id="32" name="Image 2" descr="/home/claude/deck/icons/warning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2228" y="1961388"/>
            <a:ext cx="329184" cy="329184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9326880" y="178308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FAILURE</a:t>
            </a:r>
            <a:endParaRPr lang="en-US" sz="1500" dirty="0"/>
          </a:p>
        </p:txBody>
      </p:sp>
      <p:sp>
        <p:nvSpPr>
          <p:cNvPr id="34" name="Shape 29"/>
          <p:cNvSpPr/>
          <p:nvPr/>
        </p:nvSpPr>
        <p:spPr>
          <a:xfrm>
            <a:off x="8503920" y="2779776"/>
            <a:ext cx="73152" cy="73152"/>
          </a:xfrm>
          <a:prstGeom prst="ellipse">
            <a:avLst/>
          </a:prstGeom>
          <a:solidFill>
            <a:srgbClr val="1B7A6E"/>
          </a:solidFill>
          <a:ln/>
        </p:spPr>
      </p:sp>
      <p:sp>
        <p:nvSpPr>
          <p:cNvPr id="35" name="Text 30"/>
          <p:cNvSpPr/>
          <p:nvPr/>
        </p:nvSpPr>
        <p:spPr>
          <a:xfrm>
            <a:off x="8705088" y="2697480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Solar: 0 W</a:t>
            </a:r>
            <a:endParaRPr lang="en-US" sz="1250" dirty="0"/>
          </a:p>
        </p:txBody>
      </p:sp>
      <p:sp>
        <p:nvSpPr>
          <p:cNvPr id="36" name="Shape 31"/>
          <p:cNvSpPr/>
          <p:nvPr/>
        </p:nvSpPr>
        <p:spPr>
          <a:xfrm>
            <a:off x="8503920" y="3163824"/>
            <a:ext cx="73152" cy="73152"/>
          </a:xfrm>
          <a:prstGeom prst="ellipse">
            <a:avLst/>
          </a:prstGeom>
          <a:solidFill>
            <a:srgbClr val="1B7A6E"/>
          </a:solidFill>
          <a:ln/>
        </p:spPr>
      </p:sp>
      <p:sp>
        <p:nvSpPr>
          <p:cNvPr id="37" name="Text 32"/>
          <p:cNvSpPr/>
          <p:nvPr/>
        </p:nvSpPr>
        <p:spPr>
          <a:xfrm>
            <a:off x="8705088" y="3081528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OFF</a:t>
            </a:r>
            <a:endParaRPr lang="en-US" sz="1250" dirty="0"/>
          </a:p>
        </p:txBody>
      </p:sp>
      <p:sp>
        <p:nvSpPr>
          <p:cNvPr id="38" name="Shape 33"/>
          <p:cNvSpPr/>
          <p:nvPr/>
        </p:nvSpPr>
        <p:spPr>
          <a:xfrm>
            <a:off x="8503920" y="3547872"/>
            <a:ext cx="73152" cy="73152"/>
          </a:xfrm>
          <a:prstGeom prst="ellipse">
            <a:avLst/>
          </a:prstGeom>
          <a:solidFill>
            <a:srgbClr val="1B7A6E"/>
          </a:solidFill>
          <a:ln/>
        </p:spPr>
      </p:sp>
      <p:sp>
        <p:nvSpPr>
          <p:cNvPr id="39" name="Text 34"/>
          <p:cNvSpPr/>
          <p:nvPr/>
        </p:nvSpPr>
        <p:spPr>
          <a:xfrm>
            <a:off x="8705088" y="3465576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Battery: 80%</a:t>
            </a:r>
            <a:endParaRPr lang="en-US" sz="1250" dirty="0"/>
          </a:p>
        </p:txBody>
      </p:sp>
      <p:sp>
        <p:nvSpPr>
          <p:cNvPr id="40" name="Shape 35"/>
          <p:cNvSpPr/>
          <p:nvPr/>
        </p:nvSpPr>
        <p:spPr>
          <a:xfrm>
            <a:off x="8503920" y="3895344"/>
            <a:ext cx="3063240" cy="0"/>
          </a:xfrm>
          <a:prstGeom prst="line">
            <a:avLst/>
          </a:prstGeom>
          <a:noFill/>
          <a:ln w="12700">
            <a:solidFill>
              <a:srgbClr val="E4E9EC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8503920" y="403250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00" dirty="0"/>
          </a:p>
        </p:txBody>
      </p:sp>
      <p:sp>
        <p:nvSpPr>
          <p:cNvPr id="42" name="Text 37"/>
          <p:cNvSpPr/>
          <p:nvPr/>
        </p:nvSpPr>
        <p:spPr>
          <a:xfrm>
            <a:off x="8503920" y="4306824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→ Load (auto relay switch)</a:t>
            </a:r>
            <a:endParaRPr lang="en-US" sz="1250" dirty="0"/>
          </a:p>
        </p:txBody>
      </p:sp>
      <p:sp>
        <p:nvSpPr>
          <p:cNvPr id="43" name="Text 3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Energy Grid Intelligence  |  Smart Microgrid Orchestrator</a:t>
            </a:r>
            <a:endParaRPr lang="en-US" sz="900" dirty="0"/>
          </a:p>
        </p:txBody>
      </p:sp>
      <p:sp>
        <p:nvSpPr>
          <p:cNvPr id="44" name="Text 3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Energy Intelligence Module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consumption patterns are analyzed to predict demand and pre-emptively preserve battery power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 (SAMPLE)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5120640" cy="173736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Usage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 Power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PM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PM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PM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794760"/>
            <a:ext cx="5120640" cy="1600200"/>
          </a:xfrm>
          <a:prstGeom prst="roundRect">
            <a:avLst>
              <a:gd name="adj" fmla="val 5714"/>
            </a:avLst>
          </a:prstGeom>
          <a:solidFill>
            <a:srgbClr val="0E2439"/>
          </a:solidFill>
          <a:ln/>
        </p:spPr>
      </p:sp>
      <p:pic>
        <p:nvPicPr>
          <p:cNvPr id="7" name="Image 0" descr="/home/claude/deck/icons/brain_F5A6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02336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3977640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detected: usage is consistently high and solar output low around 6 PM every day.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417320" y="470916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Controller pre-emptively preserves battery charge ahead of the predicted peak.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989320" y="1554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DEMAND (NEXT PEAK)</a:t>
            </a:r>
            <a:endParaRPr lang="en-US" sz="11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989320" y="1874520"/>
          <a:ext cx="562356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Energy Grid Intelligence  |  Smart Microgrid Orchestrator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coordinated pipelines: hardware sensing/control and software data intelligence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212080" cy="502920"/>
          </a:xfrm>
          <a:prstGeom prst="roundRect">
            <a:avLst>
              <a:gd name="adj" fmla="val 14545"/>
            </a:avLst>
          </a:prstGeom>
          <a:solidFill>
            <a:srgbClr val="0E243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PIPELINE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2120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" y="2304288"/>
            <a:ext cx="292608" cy="292608"/>
          </a:xfrm>
          <a:prstGeom prst="ellipse">
            <a:avLst/>
          </a:prstGeom>
          <a:solidFill>
            <a:srgbClr val="1B7A6E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" y="23042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2148840"/>
            <a:ext cx="4480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measure voltage &amp; current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54680" y="2752344"/>
            <a:ext cx="0" cy="164592"/>
          </a:xfrm>
          <a:prstGeom prst="line">
            <a:avLst/>
          </a:prstGeom>
          <a:noFill/>
          <a:ln w="19050">
            <a:solidFill>
              <a:srgbClr val="B7C3CC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548640" y="2916936"/>
            <a:ext cx="52120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" y="3072384"/>
            <a:ext cx="292608" cy="292608"/>
          </a:xfrm>
          <a:prstGeom prst="ellipse">
            <a:avLst/>
          </a:prstGeom>
          <a:solidFill>
            <a:srgbClr val="1B7A6E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" y="30723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2916936"/>
            <a:ext cx="4480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collects real-time data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54680" y="3520440"/>
            <a:ext cx="0" cy="164592"/>
          </a:xfrm>
          <a:prstGeom prst="line">
            <a:avLst/>
          </a:prstGeom>
          <a:noFill/>
          <a:ln w="19050">
            <a:solidFill>
              <a:srgbClr val="B7C3CC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48640" y="3685032"/>
            <a:ext cx="52120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" y="3840480"/>
            <a:ext cx="292608" cy="292608"/>
          </a:xfrm>
          <a:prstGeom prst="ellipse">
            <a:avLst/>
          </a:prstGeom>
          <a:solidFill>
            <a:srgbClr val="1B7A6E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" y="3840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3685032"/>
            <a:ext cx="4480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sent to backend via Wi-Fi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54680" y="4288536"/>
            <a:ext cx="0" cy="164592"/>
          </a:xfrm>
          <a:prstGeom prst="line">
            <a:avLst/>
          </a:prstGeom>
          <a:noFill/>
          <a:ln w="19050">
            <a:solidFill>
              <a:srgbClr val="B7C3CC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48640" y="4453128"/>
            <a:ext cx="52120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944" y="4608576"/>
            <a:ext cx="292608" cy="292608"/>
          </a:xfrm>
          <a:prstGeom prst="ellipse">
            <a:avLst/>
          </a:prstGeom>
          <a:solidFill>
            <a:srgbClr val="1B7A6E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" y="46085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" y="4453128"/>
            <a:ext cx="4480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switches active energy source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154680" y="5056632"/>
            <a:ext cx="0" cy="164592"/>
          </a:xfrm>
          <a:prstGeom prst="line">
            <a:avLst/>
          </a:prstGeom>
          <a:noFill/>
          <a:ln w="19050">
            <a:solidFill>
              <a:srgbClr val="B7C3CC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48640" y="5221224"/>
            <a:ext cx="52120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4944" y="5376672"/>
            <a:ext cx="292608" cy="292608"/>
          </a:xfrm>
          <a:prstGeom prst="ellipse">
            <a:avLst/>
          </a:prstGeom>
          <a:solidFill>
            <a:srgbClr val="1B7A6E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" y="5376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97280" y="5221224"/>
            <a:ext cx="4480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receives regulated power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09360" y="1463040"/>
            <a:ext cx="5212080" cy="502920"/>
          </a:xfrm>
          <a:prstGeom prst="roundRect">
            <a:avLst>
              <a:gd name="adj" fmla="val 14545"/>
            </a:avLst>
          </a:prstGeom>
          <a:solidFill>
            <a:srgbClr val="0E2439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146304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PIPELINE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309360" y="2148840"/>
            <a:ext cx="52120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55664" y="2304288"/>
            <a:ext cx="292608" cy="29260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4" name="Text 32"/>
          <p:cNvSpPr/>
          <p:nvPr/>
        </p:nvSpPr>
        <p:spPr>
          <a:xfrm>
            <a:off x="6455664" y="23042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58000" y="2148840"/>
            <a:ext cx="4480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backend receives data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915400" y="2752344"/>
            <a:ext cx="0" cy="164592"/>
          </a:xfrm>
          <a:prstGeom prst="line">
            <a:avLst/>
          </a:prstGeom>
          <a:noFill/>
          <a:ln w="19050">
            <a:solidFill>
              <a:srgbClr val="B7C3CC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6309360" y="2916936"/>
            <a:ext cx="52120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55664" y="3072384"/>
            <a:ext cx="292608" cy="29260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9" name="Text 37"/>
          <p:cNvSpPr/>
          <p:nvPr/>
        </p:nvSpPr>
        <p:spPr>
          <a:xfrm>
            <a:off x="6455664" y="30723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58000" y="2916936"/>
            <a:ext cx="4480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stores energy history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915400" y="3520440"/>
            <a:ext cx="0" cy="164592"/>
          </a:xfrm>
          <a:prstGeom prst="line">
            <a:avLst/>
          </a:prstGeom>
          <a:noFill/>
          <a:ln w="19050">
            <a:solidFill>
              <a:srgbClr val="B7C3CC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6309360" y="3685032"/>
            <a:ext cx="52120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55664" y="3840480"/>
            <a:ext cx="292608" cy="29260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4" name="Text 42"/>
          <p:cNvSpPr/>
          <p:nvPr/>
        </p:nvSpPr>
        <p:spPr>
          <a:xfrm>
            <a:off x="6455664" y="3840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858000" y="3685032"/>
            <a:ext cx="4480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model analyzes usage patterns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915400" y="4288536"/>
            <a:ext cx="0" cy="164592"/>
          </a:xfrm>
          <a:prstGeom prst="line">
            <a:avLst/>
          </a:prstGeom>
          <a:noFill/>
          <a:ln w="19050">
            <a:solidFill>
              <a:srgbClr val="B7C3CC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6309360" y="4453128"/>
            <a:ext cx="52120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55664" y="4608576"/>
            <a:ext cx="292608" cy="29260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9" name="Text 47"/>
          <p:cNvSpPr/>
          <p:nvPr/>
        </p:nvSpPr>
        <p:spPr>
          <a:xfrm>
            <a:off x="6455664" y="46085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858000" y="4453128"/>
            <a:ext cx="4480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prediction generated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915400" y="5056632"/>
            <a:ext cx="0" cy="164592"/>
          </a:xfrm>
          <a:prstGeom prst="line">
            <a:avLst/>
          </a:prstGeom>
          <a:noFill/>
          <a:ln w="19050">
            <a:solidFill>
              <a:srgbClr val="B7C3CC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6309360" y="5221224"/>
            <a:ext cx="52120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55664" y="5376672"/>
            <a:ext cx="292608" cy="29260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4" name="Text 52"/>
          <p:cNvSpPr/>
          <p:nvPr/>
        </p:nvSpPr>
        <p:spPr>
          <a:xfrm>
            <a:off x="6455664" y="5376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858000" y="5221224"/>
            <a:ext cx="4480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 shows live status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Energy Grid Intelligence  |  Smart Microgrid Orchestrator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IoT + AI toolchain spanning hardware, backend, and interface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084832" cy="4160520"/>
          </a:xfrm>
          <a:prstGeom prst="roundRect">
            <a:avLst>
              <a:gd name="adj" fmla="val 4386"/>
            </a:avLst>
          </a:prstGeom>
          <a:solidFill>
            <a:srgbClr val="F7F9FA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25296" y="1828800"/>
            <a:ext cx="731520" cy="73152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/home/claude/deck/icons/reac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5491" y="201899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69748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13232" y="3291840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13232" y="3858768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13232" y="4425696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/ Recharts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798064" y="1554480"/>
            <a:ext cx="2084832" cy="4160520"/>
          </a:xfrm>
          <a:prstGeom prst="roundRect">
            <a:avLst>
              <a:gd name="adj" fmla="val 4386"/>
            </a:avLst>
          </a:prstGeom>
          <a:solidFill>
            <a:srgbClr val="F7F9FA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74720" y="1828800"/>
            <a:ext cx="731520" cy="731520"/>
          </a:xfrm>
          <a:prstGeom prst="ellipse">
            <a:avLst/>
          </a:prstGeom>
          <a:solidFill>
            <a:srgbClr val="1B7A6E"/>
          </a:solidFill>
          <a:ln/>
        </p:spPr>
      </p:sp>
      <p:pic>
        <p:nvPicPr>
          <p:cNvPr id="13" name="Image 1" descr="/home/claude/deck/icons/nod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4915" y="2018995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07792" y="269748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962656" y="3291840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2962656" y="3858768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047488" y="1554480"/>
            <a:ext cx="2084832" cy="4160520"/>
          </a:xfrm>
          <a:prstGeom prst="roundRect">
            <a:avLst>
              <a:gd name="adj" fmla="val 4386"/>
            </a:avLst>
          </a:prstGeom>
          <a:solidFill>
            <a:srgbClr val="F7F9FA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724144" y="1828800"/>
            <a:ext cx="731520" cy="73152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9" name="Image 2" descr="/home/claude/deck/icons/databas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39" y="2018995"/>
            <a:ext cx="351130" cy="35113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57216" y="269748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212080" y="3291840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7296912" y="1554480"/>
            <a:ext cx="2084832" cy="4160520"/>
          </a:xfrm>
          <a:prstGeom prst="roundRect">
            <a:avLst>
              <a:gd name="adj" fmla="val 4386"/>
            </a:avLst>
          </a:prstGeom>
          <a:solidFill>
            <a:srgbClr val="F7F9FA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973568" y="1828800"/>
            <a:ext cx="731520" cy="731520"/>
          </a:xfrm>
          <a:prstGeom prst="ellipse">
            <a:avLst/>
          </a:prstGeom>
          <a:solidFill>
            <a:srgbClr val="1B7A6E"/>
          </a:solidFill>
          <a:ln/>
        </p:spPr>
      </p:sp>
      <p:pic>
        <p:nvPicPr>
          <p:cNvPr id="24" name="Image 3" descr="/home/claude/deck/icons/chip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3763" y="2018995"/>
            <a:ext cx="351130" cy="35113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06640" y="269748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/ IoT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461504" y="3291840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7461504" y="3858768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INA219 Sensor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7461504" y="4425696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Module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7461504" y="4992624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Panel + Battery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9546336" y="1554480"/>
            <a:ext cx="2084832" cy="4160520"/>
          </a:xfrm>
          <a:prstGeom prst="roundRect">
            <a:avLst>
              <a:gd name="adj" fmla="val 4386"/>
            </a:avLst>
          </a:prstGeom>
          <a:solidFill>
            <a:srgbClr val="F7F9FA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0222992" y="1828800"/>
            <a:ext cx="731520" cy="73152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32" name="Image 4" descr="/home/claude/deck/icons/python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3187" y="2018995"/>
            <a:ext cx="351130" cy="35113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656064" y="269748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Machine Learning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9710928" y="3291840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Pandas, Scikit-learn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9710928" y="3858768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/ Random Forest Regression</a:t>
            </a:r>
            <a:endParaRPr lang="en-US" sz="1050" dirty="0"/>
          </a:p>
        </p:txBody>
      </p:sp>
      <p:sp>
        <p:nvSpPr>
          <p:cNvPr id="36" name="Text 29"/>
          <p:cNvSpPr/>
          <p:nvPr/>
        </p:nvSpPr>
        <p:spPr>
          <a:xfrm>
            <a:off x="9710928" y="4425696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Prediction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Energy Grid Intelligence  |  Smart Microgrid Orchestrator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Dashboard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visibility into generation, storage, consumption, and predictions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63500" dist="25400" dir="5400000">
              <a:srgbClr val="9AA5AD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594360" cy="59436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/home/claude/deck/icons/slid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774" y="19833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013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Energy Monitoring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251460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solar generation, battery %, active source at a glance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63500" dist="25400" dir="5400000">
              <a:srgbClr val="9AA5AD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828800"/>
            <a:ext cx="594360" cy="594360"/>
          </a:xfrm>
          <a:prstGeom prst="ellipse">
            <a:avLst/>
          </a:prstGeom>
          <a:solidFill>
            <a:srgbClr val="1B7A6E"/>
          </a:solidFill>
          <a:ln/>
        </p:spPr>
      </p:sp>
      <p:pic>
        <p:nvPicPr>
          <p:cNvPr id="11" name="Image 1" descr="/home/claude/deck/icons/battery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534" y="19833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18013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Monitoring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72000" y="251460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level and charging / discharging status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60020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63500" dist="25400" dir="5400000">
              <a:srgbClr val="9AA5AD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1828800"/>
            <a:ext cx="594360" cy="59436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6" name="Image 2" descr="/home/claude/deck/icons/solar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1294" y="198333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98280" y="18013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Monitoring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66760" y="251460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and cumulative solar power generated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65760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63500" dist="25400" dir="5400000">
              <a:srgbClr val="9AA5AD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886200"/>
            <a:ext cx="594360" cy="59436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21" name="Image 3" descr="/home/claude/deck/icons/char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4" y="404073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38587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Usage Graph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77240" y="457200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electricity consumption trends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43400" y="365760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63500" dist="25400" dir="5400000">
              <a:srgbClr val="9AA5AD">
                <a:alpha val="2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0" y="3886200"/>
            <a:ext cx="594360" cy="594360"/>
          </a:xfrm>
          <a:prstGeom prst="ellipse">
            <a:avLst/>
          </a:prstGeom>
          <a:solidFill>
            <a:srgbClr val="1B7A6E"/>
          </a:solidFill>
          <a:ln/>
        </p:spPr>
      </p:sp>
      <p:pic>
        <p:nvPicPr>
          <p:cNvPr id="26" name="Image 4" descr="/home/claude/deck/icons/brain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6534" y="404073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03520" y="38587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Demand Prediction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72000" y="457200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Forecasted load for upcoming hours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38160" y="365760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63500" dist="25400" dir="5400000">
              <a:srgbClr val="9AA5AD">
                <a:alpha val="2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66760" y="3886200"/>
            <a:ext cx="594360" cy="59436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31" name="Image 5" descr="/home/claude/deck/icons/bell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1294" y="404073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98280" y="38587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Alerts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366760" y="457200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shortage, low battery, critical power warnings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Energy Grid Intelligence  |  Smart Microgrid Orchestrator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Project Modules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coordinated modules deliver end-to-end autonomous energy management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057400" cy="3291840"/>
          </a:xfrm>
          <a:prstGeom prst="roundRect">
            <a:avLst>
              <a:gd name="adj" fmla="val 4444"/>
            </a:avLst>
          </a:prstGeom>
          <a:solidFill>
            <a:srgbClr val="16324F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103120"/>
            <a:ext cx="1728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5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257300" y="2743200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7" name="Image 0" descr="/home/claude/deck/icons/sliders_0E24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3721" y="290962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5661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Monitoring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3232" y="4206240"/>
            <a:ext cx="172821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voltage, current, power &amp; energy consumption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674620" y="3611880"/>
            <a:ext cx="914" cy="0"/>
          </a:xfrm>
          <a:prstGeom prst="line">
            <a:avLst/>
          </a:prstGeom>
          <a:noFill/>
          <a:ln/>
        </p:spPr>
      </p:sp>
      <p:sp>
        <p:nvSpPr>
          <p:cNvPr id="11" name="Shape 8"/>
          <p:cNvSpPr/>
          <p:nvPr/>
        </p:nvSpPr>
        <p:spPr>
          <a:xfrm>
            <a:off x="2743200" y="1965960"/>
            <a:ext cx="2057400" cy="3291840"/>
          </a:xfrm>
          <a:prstGeom prst="roundRect">
            <a:avLst>
              <a:gd name="adj" fmla="val 4444"/>
            </a:avLst>
          </a:prstGeom>
          <a:solidFill>
            <a:srgbClr val="0E2439"/>
          </a:solidFill>
          <a:ln/>
        </p:spPr>
      </p:sp>
      <p:sp>
        <p:nvSpPr>
          <p:cNvPr id="12" name="Text 9"/>
          <p:cNvSpPr/>
          <p:nvPr/>
        </p:nvSpPr>
        <p:spPr>
          <a:xfrm>
            <a:off x="2907792" y="2103120"/>
            <a:ext cx="1728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5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3451860" y="2743200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4" name="Image 1" descr="/home/claude/deck/icons/plug_0E243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8281" y="290962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80360" y="35661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Management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907792" y="4206240"/>
            <a:ext cx="172821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solar, battery, and grid inputs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869180" y="3611880"/>
            <a:ext cx="914" cy="0"/>
          </a:xfrm>
          <a:prstGeom prst="line">
            <a:avLst/>
          </a:prstGeom>
          <a:noFill/>
          <a:ln/>
        </p:spPr>
      </p:sp>
      <p:sp>
        <p:nvSpPr>
          <p:cNvPr id="18" name="Shape 14"/>
          <p:cNvSpPr/>
          <p:nvPr/>
        </p:nvSpPr>
        <p:spPr>
          <a:xfrm>
            <a:off x="4937760" y="1965960"/>
            <a:ext cx="2057400" cy="3291840"/>
          </a:xfrm>
          <a:prstGeom prst="roundRect">
            <a:avLst>
              <a:gd name="adj" fmla="val 4444"/>
            </a:avLst>
          </a:prstGeom>
          <a:solidFill>
            <a:srgbClr val="16324F"/>
          </a:solidFill>
          <a:ln/>
        </p:spPr>
      </p:sp>
      <p:sp>
        <p:nvSpPr>
          <p:cNvPr id="19" name="Text 15"/>
          <p:cNvSpPr/>
          <p:nvPr/>
        </p:nvSpPr>
        <p:spPr>
          <a:xfrm>
            <a:off x="5102352" y="2103120"/>
            <a:ext cx="1728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5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Shape 16"/>
          <p:cNvSpPr/>
          <p:nvPr/>
        </p:nvSpPr>
        <p:spPr>
          <a:xfrm>
            <a:off x="5646420" y="2743200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1" name="Image 2" descr="/home/claude/deck/icons/chip_0E243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2841" y="2909621"/>
            <a:ext cx="307238" cy="30723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074920" y="35661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Decision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5102352" y="4206240"/>
            <a:ext cx="172821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selects the power source for the load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7063740" y="3611880"/>
            <a:ext cx="914" cy="0"/>
          </a:xfrm>
          <a:prstGeom prst="line">
            <a:avLst/>
          </a:prstGeom>
          <a:noFill/>
          <a:ln/>
        </p:spPr>
      </p:sp>
      <p:sp>
        <p:nvSpPr>
          <p:cNvPr id="25" name="Shape 20"/>
          <p:cNvSpPr/>
          <p:nvPr/>
        </p:nvSpPr>
        <p:spPr>
          <a:xfrm>
            <a:off x="7132320" y="1965960"/>
            <a:ext cx="2057400" cy="3291840"/>
          </a:xfrm>
          <a:prstGeom prst="roundRect">
            <a:avLst>
              <a:gd name="adj" fmla="val 4444"/>
            </a:avLst>
          </a:prstGeom>
          <a:solidFill>
            <a:srgbClr val="0E2439"/>
          </a:solidFill>
          <a:ln/>
        </p:spPr>
      </p:sp>
      <p:sp>
        <p:nvSpPr>
          <p:cNvPr id="26" name="Text 21"/>
          <p:cNvSpPr/>
          <p:nvPr/>
        </p:nvSpPr>
        <p:spPr>
          <a:xfrm>
            <a:off x="7296912" y="2103120"/>
            <a:ext cx="1728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5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Shape 22"/>
          <p:cNvSpPr/>
          <p:nvPr/>
        </p:nvSpPr>
        <p:spPr>
          <a:xfrm>
            <a:off x="7840980" y="2743200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8" name="Image 3" descr="/home/claude/deck/icons/brain_0E243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7401" y="2909621"/>
            <a:ext cx="307238" cy="30723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269480" y="35661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Prediction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7296912" y="4206240"/>
            <a:ext cx="172821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history to forecast future demand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9258300" y="3611880"/>
            <a:ext cx="914" cy="0"/>
          </a:xfrm>
          <a:prstGeom prst="line">
            <a:avLst/>
          </a:prstGeom>
          <a:noFill/>
          <a:ln/>
        </p:spPr>
      </p:sp>
      <p:sp>
        <p:nvSpPr>
          <p:cNvPr id="32" name="Shape 26"/>
          <p:cNvSpPr/>
          <p:nvPr/>
        </p:nvSpPr>
        <p:spPr>
          <a:xfrm>
            <a:off x="9326880" y="1965960"/>
            <a:ext cx="2057400" cy="3291840"/>
          </a:xfrm>
          <a:prstGeom prst="roundRect">
            <a:avLst>
              <a:gd name="adj" fmla="val 4444"/>
            </a:avLst>
          </a:prstGeom>
          <a:solidFill>
            <a:srgbClr val="16324F"/>
          </a:solidFill>
          <a:ln/>
        </p:spPr>
      </p:sp>
      <p:sp>
        <p:nvSpPr>
          <p:cNvPr id="33" name="Text 27"/>
          <p:cNvSpPr/>
          <p:nvPr/>
        </p:nvSpPr>
        <p:spPr>
          <a:xfrm>
            <a:off x="9491472" y="2103120"/>
            <a:ext cx="1728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5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34" name="Shape 28"/>
          <p:cNvSpPr/>
          <p:nvPr/>
        </p:nvSpPr>
        <p:spPr>
          <a:xfrm>
            <a:off x="10035540" y="2743200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35" name="Image 4" descr="/home/claude/deck/icons/chart_0E243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1961" y="2909621"/>
            <a:ext cx="307238" cy="30723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464040" y="35661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9491472" y="4206240"/>
            <a:ext cx="172821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live data, analytics, alerts &amp; predictions</a:t>
            </a:r>
            <a:endParaRPr lang="en-US" sz="1050" dirty="0"/>
          </a:p>
        </p:txBody>
      </p:sp>
      <p:sp>
        <p:nvSpPr>
          <p:cNvPr id="38" name="Text 3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Energy Grid Intelligence  |  Smart Microgrid Orchestrator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4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114800"/>
            <a:ext cx="5029200" cy="5029200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prototype demonstrating IoT, renewable energy, and AI working together</a:t>
            </a:r>
            <a:endParaRPr lang="en-US" sz="1300" dirty="0"/>
          </a:p>
        </p:txBody>
      </p:sp>
      <p:pic>
        <p:nvPicPr>
          <p:cNvPr id="5" name="Image 0" descr="/home/claude/deck/icons/solar_F5A6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46504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691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energy monitored in real time</a:t>
            </a:r>
            <a:endParaRPr lang="en-US" sz="1300" dirty="0"/>
          </a:p>
        </p:txBody>
      </p:sp>
      <p:pic>
        <p:nvPicPr>
          <p:cNvPr id="7" name="Image 1" descr="/home/claude/deck/icons/battery_F5A62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46504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29400" y="1691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charge continuously tracked</a:t>
            </a:r>
            <a:endParaRPr lang="en-US" sz="1300" dirty="0"/>
          </a:p>
        </p:txBody>
      </p:sp>
      <p:pic>
        <p:nvPicPr>
          <p:cNvPr id="9" name="Image 2" descr="/home/claude/deck/icons/sliders_F5A62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13432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1560" y="22585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consumption measured accurately</a:t>
            </a:r>
            <a:endParaRPr lang="en-US" sz="1300" dirty="0"/>
          </a:p>
        </p:txBody>
      </p:sp>
      <p:pic>
        <p:nvPicPr>
          <p:cNvPr id="11" name="Image 3" descr="/home/claude/deck/icons/plug_F5A62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313432"/>
            <a:ext cx="365760" cy="3657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629400" y="22585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availability simulated &amp; monitored</a:t>
            </a:r>
            <a:endParaRPr lang="en-US" sz="1300" dirty="0"/>
          </a:p>
        </p:txBody>
      </p:sp>
      <p:pic>
        <p:nvPicPr>
          <p:cNvPr id="13" name="Image 4" descr="/home/claude/deck/icons/chip_F5A62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880360"/>
            <a:ext cx="365760" cy="36576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51560" y="282549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source selection</a:t>
            </a:r>
            <a:endParaRPr lang="en-US" sz="1300" dirty="0"/>
          </a:p>
        </p:txBody>
      </p:sp>
      <p:pic>
        <p:nvPicPr>
          <p:cNvPr id="15" name="Image 5" descr="/home/claude/deck/icons/chart_F5A62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2880360"/>
            <a:ext cx="365760" cy="36576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629400" y="282549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React dashboard</a:t>
            </a:r>
            <a:endParaRPr lang="en-US" sz="1300" dirty="0"/>
          </a:p>
        </p:txBody>
      </p:sp>
      <p:pic>
        <p:nvPicPr>
          <p:cNvPr id="17" name="Image 6" descr="/home/claude/deck/icons/brain_F5A62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447288"/>
            <a:ext cx="365760" cy="36576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051560" y="33924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demand prediction</a:t>
            </a:r>
            <a:endParaRPr lang="en-US" sz="1300" dirty="0"/>
          </a:p>
        </p:txBody>
      </p:sp>
      <p:pic>
        <p:nvPicPr>
          <p:cNvPr id="19" name="Image 7" descr="/home/claude/deck/icons/bell_F5A623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3447288"/>
            <a:ext cx="365760" cy="36576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6629400" y="33924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shortage &amp; critical alerts</a:t>
            </a:r>
            <a:endParaRPr lang="en-US" sz="1300" dirty="0"/>
          </a:p>
        </p:txBody>
      </p:sp>
      <p:sp>
        <p:nvSpPr>
          <p:cNvPr id="21" name="Shape 11"/>
          <p:cNvSpPr/>
          <p:nvPr/>
        </p:nvSpPr>
        <p:spPr>
          <a:xfrm>
            <a:off x="548640" y="507492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16324F"/>
          </a:solidFill>
          <a:ln w="12700">
            <a:solidFill>
              <a:srgbClr val="27506E"/>
            </a:solidFill>
            <a:prstDash val="solid"/>
          </a:ln>
        </p:spPr>
      </p:sp>
      <p:sp>
        <p:nvSpPr>
          <p:cNvPr id="22" name="Text 12"/>
          <p:cNvSpPr/>
          <p:nvPr/>
        </p:nvSpPr>
        <p:spPr>
          <a:xfrm>
            <a:off x="868680" y="5193792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“Currently using 10W, solar generation is decreasing, demand is predicted to rise next hour — battery power is being preserved for the coming peak.”</a:t>
            </a:r>
            <a:endParaRPr lang="en-US" sz="1350" dirty="0"/>
          </a:p>
        </p:txBody>
      </p:sp>
      <p:sp>
        <p:nvSpPr>
          <p:cNvPr id="23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Energy Grid Intelligence  |  Smart Microgrid Orchestrator</a:t>
            </a:r>
            <a:endParaRPr lang="en-US" sz="900" dirty="0"/>
          </a:p>
        </p:txBody>
      </p:sp>
      <p:sp>
        <p:nvSpPr>
          <p:cNvPr id="24" name="Text 1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2026-09-01T08:45:28Z</dcterms:created>
  <dcterms:modified xsi:type="dcterms:W3CDTF">2026-09-01T08:45:28Z</dcterms:modified>
</cp:coreProperties>
</file>